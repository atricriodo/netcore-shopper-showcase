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netcore</a:t>
            </a:r>
            <a:r>
              <a:rPr sz="20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108960" cy="329184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8A3D"/>
                </a:solidFill>
                <a:latin typeface="Arial"/>
              </a:defRPr>
            </a:pPr>
            <a:r>
              <a:t>✨ UNIFIED COMMERCE EXPERIENCE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Market to Every Shopper Like You </a:t>
            </a:r>
            <a:r>
              <a:rPr>
                <a:solidFill>
                  <a:srgbClr val="FF8A3D"/>
                </a:solidFill>
              </a:rPr>
              <a:t>Already Know Them</a:t>
            </a:r>
          </a:p>
          <a:p>
            <a:pPr>
              <a:spcBef>
                <a:spcPts val="1400"/>
              </a:spcBef>
              <a:defRPr sz="1200">
                <a:solidFill>
                  <a:srgbClr val="A59EAA"/>
                </a:solidFill>
                <a:latin typeface="Arial"/>
              </a:defRPr>
            </a:pPr>
            <a:r>
              <a:t>Netcore connects on-site search and real-time product discovery directly with email, SMS, mobile push, and WhatsApp. What a shopper searches, filters, and leaves in their cart immediately shapes the very next message they receive.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⚡ Zero Data Lag: </a:t>
            </a:r>
            <a:r>
              <a:rPr sz="1050">
                <a:solidFill>
                  <a:srgbClr val="A59EAA"/>
                </a:solidFill>
                <a:latin typeface="Arial"/>
              </a:rPr>
              <a:t>Real-time intent captured from in-session search &amp; browse behavior.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🎯 1:1 Relevance: </a:t>
            </a:r>
            <a:r>
              <a:rPr sz="1050">
                <a:solidFill>
                  <a:srgbClr val="A59EAA"/>
                </a:solidFill>
                <a:latin typeface="Arial"/>
              </a:rPr>
              <a:t>Automated outbound triggers matching exact size, color &amp; budget.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FFFFF"/>
                </a:solidFill>
                <a:latin typeface="Arial"/>
              </a:rPr>
              <a:t>🤖 Autonomous AI: </a:t>
            </a:r>
            <a:r>
              <a:rPr sz="1050">
                <a:solidFill>
                  <a:srgbClr val="A59EAA"/>
                </a:solidFill>
                <a:latin typeface="Arial"/>
              </a:rPr>
              <a:t>Unified agents driving search ranking and omnichannel campaigns.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5120640" cy="438912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371600"/>
            <a:ext cx="4663440" cy="1234440"/>
          </a:xfrm>
          <a:prstGeom prst="roundRect">
            <a:avLst/>
          </a:prstGeom>
          <a:solidFill>
            <a:srgbClr val="28202C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3291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A59EAA"/>
                </a:solidFill>
              </a:defRPr>
            </a:pPr>
            <a:r>
              <a:t>ON-SITE STORE SEARCH • 2:02 PM</a:t>
            </a:r>
          </a:p>
          <a:p>
            <a:pPr>
              <a:spcBef>
                <a:spcPts val="400"/>
              </a:spcBef>
              <a:defRPr sz="1150" b="1">
                <a:solidFill>
                  <a:srgbClr val="FFFFFF"/>
                </a:solidFill>
              </a:defRPr>
            </a:pPr>
            <a:r>
              <a:t>🔍 “linen shirt for a summer wedding”</a:t>
            </a:r>
          </a:p>
          <a:p>
            <a:pPr>
              <a:spcBef>
                <a:spcPts val="400"/>
              </a:spcBef>
              <a:defRPr sz="900">
                <a:solidFill>
                  <a:srgbClr val="FF8A3D"/>
                </a:solidFill>
              </a:defRPr>
            </a:pPr>
            <a:r>
              <a:t>Filters: Sky Blue • Size M • $60–$90</a:t>
            </a:r>
          </a:p>
        </p:txBody>
      </p:sp>
      <p:pic>
        <p:nvPicPr>
          <p:cNvPr id="9" name="Picture 8" descr="shirt-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1463040"/>
            <a:ext cx="91440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37960" y="2743200"/>
            <a:ext cx="4663440" cy="105156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88920"/>
            <a:ext cx="4389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C5C05"/>
                </a:solidFill>
              </a:rPr>
              <a:t>NETCORE SHOPPER MEMORY </a:t>
            </a:r>
            <a:r>
              <a:rPr sz="850" b="1">
                <a:solidFill>
                  <a:srgbClr val="1FA36A"/>
                </a:solidFill>
              </a:rPr>
              <a:t>[LIVE SYNC]</a:t>
            </a:r>
          </a:p>
          <a:p>
            <a:pPr>
              <a:spcBef>
                <a:spcPts val="400"/>
              </a:spcBef>
              <a:defRPr sz="950" b="1">
                <a:solidFill>
                  <a:srgbClr val="FFFFFF"/>
                </a:solidFill>
              </a:defRPr>
            </a:pPr>
            <a:r>
              <a:t>Tags: [linen]  [sky blue]  [size: M]  [affinity: wedding]  [cart: $79]</a:t>
            </a:r>
          </a:p>
          <a:p>
            <a:pPr>
              <a:spcBef>
                <a:spcPts val="200"/>
              </a:spcBef>
              <a:defRPr sz="850">
                <a:solidFill>
                  <a:srgbClr val="A59EAA"/>
                </a:solidFill>
              </a:defRPr>
            </a:pPr>
            <a:r>
              <a:t>Action: Trigger contextual cart recovery + matching chinos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931920"/>
            <a:ext cx="4663440" cy="1463040"/>
          </a:xfrm>
          <a:prstGeom prst="roundRect">
            <a:avLst/>
          </a:prstGeom>
          <a:solidFill>
            <a:srgbClr val="28202C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977639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FA36A"/>
                </a:solidFill>
              </a:defRPr>
            </a:pPr>
            <a:r>
              <a:t>OUTBOUND TRIGGER • EMAIL &amp; WHATSAPP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“Your sky blue linen shirt is still in your cart”</a:t>
            </a:r>
          </a:p>
          <a:p>
            <a:pPr>
              <a:spcBef>
                <a:spcPts val="200"/>
              </a:spcBef>
              <a:defRPr sz="900">
                <a:solidFill>
                  <a:srgbClr val="FFEDE2"/>
                </a:solidFill>
              </a:defRPr>
            </a:pPr>
            <a:r>
              <a:t>Size M in stock. Wedding planning? Pair it with stone chinos.</a:t>
            </a:r>
          </a:p>
        </p:txBody>
      </p:sp>
      <p:pic>
        <p:nvPicPr>
          <p:cNvPr id="14" name="Picture 13" descr="shirt-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4206240"/>
            <a:ext cx="777240" cy="777240"/>
          </a:xfrm>
          <a:prstGeom prst="rect">
            <a:avLst/>
          </a:prstGeom>
        </p:spPr>
      </p:pic>
      <p:pic>
        <p:nvPicPr>
          <p:cNvPr id="15" name="Picture 14" descr="pants-st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206240"/>
            <a:ext cx="777240" cy="7772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E6774"/>
                </a:solidFill>
              </a:rPr>
              <a:t>6,500+ ENTERPRISE BRANDS GROW WITH NETCORE:   </a:t>
            </a:r>
            <a:r>
              <a:rPr sz="1000" b="1">
                <a:solidFill>
                  <a:srgbClr val="A59EAA"/>
                </a:solidFill>
              </a:rPr>
              <a:t>adidas   •   UNDER ARMOUR   •   Columbia   •   crocs   •   ALDO   •   TOMMY HILFIGER   •   Walmart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FFEDE2"/>
          </a:solidFill>
          <a:ln w="12700">
            <a:solidFill>
              <a:srgbClr val="FF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THE STATUS QUO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11A25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11A25"/>
                </a:solidFill>
                <a:latin typeface="Arial"/>
              </a:defRPr>
            </a:pPr>
            <a:r>
              <a:t>Most Stacks Would Have Sent This Instead</a:t>
            </a:r>
          </a:p>
          <a:p>
            <a:pPr>
              <a:spcBef>
                <a:spcPts val="400"/>
              </a:spcBef>
              <a:defRPr sz="1100">
                <a:solidFill>
                  <a:srgbClr val="6E6774"/>
                </a:solidFill>
                <a:latin typeface="Arial"/>
              </a:defRPr>
            </a:pPr>
            <a:r>
              <a:t>When on-site search and customer engagement live in separate tools, campaigns ignore the shopper's real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23636"/>
                </a:solidFill>
              </a:defRPr>
            </a:pPr>
            <a:r>
              <a:t>⚠️ THE TRADITIONAL CART ABANDONMENT EMAIL</a:t>
            </a:r>
          </a:p>
          <a:p>
            <a:pPr>
              <a:spcBef>
                <a:spcPts val="600"/>
              </a:spcBef>
              <a:defRPr sz="1500" b="1">
                <a:solidFill>
                  <a:srgbClr val="211A25"/>
                </a:solidFill>
              </a:defRPr>
            </a:pPr>
            <a:r>
              <a:t>“You left something behind!”</a:t>
            </a:r>
          </a:p>
          <a:p>
            <a:pPr>
              <a:spcBef>
                <a:spcPts val="400"/>
              </a:spcBef>
              <a:defRPr sz="1000">
                <a:solidFill>
                  <a:srgbClr val="6E6774"/>
                </a:solidFill>
              </a:defRPr>
            </a:pPr>
            <a:r>
              <a:t>“Still thinking it over? Your cart is waiting. While you’re here, check out this week’s bestsellers:”</a:t>
            </a:r>
          </a:p>
        </p:txBody>
      </p:sp>
      <p:pic>
        <p:nvPicPr>
          <p:cNvPr id="8" name="Picture 7" descr="shoe-gr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1188720" cy="1188720"/>
          </a:xfrm>
          <a:prstGeom prst="rect">
            <a:avLst/>
          </a:prstGeom>
        </p:spPr>
      </p:pic>
      <p:pic>
        <p:nvPicPr>
          <p:cNvPr id="9" name="Picture 8" descr="shirt-gr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108960"/>
            <a:ext cx="1188720" cy="1188720"/>
          </a:xfrm>
          <a:prstGeom prst="rect">
            <a:avLst/>
          </a:prstGeom>
        </p:spPr>
      </p:pic>
      <p:pic>
        <p:nvPicPr>
          <p:cNvPr id="10" name="Picture 9" descr="jacket-gre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108960"/>
            <a:ext cx="1188720" cy="1188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3891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E6774"/>
                </a:solidFill>
              </a:defRPr>
            </a:pPr>
            <a:r>
              <a:t>Generic catalog bestsellers: Running sneakers, Graphic tee, Denim jacket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E23636"/>
                </a:solidFill>
              </a:rPr>
              <a:t>❌ No size or stock check: </a:t>
            </a:r>
            <a:r>
              <a:rPr sz="950">
                <a:solidFill>
                  <a:srgbClr val="6E6774"/>
                </a:solidFill>
              </a:rPr>
              <a:t>Fails to confirm if abandoned size is available.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E23636"/>
                </a:solidFill>
              </a:rPr>
              <a:t>❌ Completely misses intent: </a:t>
            </a:r>
            <a:r>
              <a:rPr sz="950">
                <a:solidFill>
                  <a:srgbClr val="6E6774"/>
                </a:solidFill>
              </a:rPr>
              <a:t>Zero awareness that the shopper is shopping for a summer wedding.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E23636"/>
                </a:solidFill>
              </a:rPr>
              <a:t>❌ Ignores search history: </a:t>
            </a:r>
            <a:r>
              <a:rPr sz="950">
                <a:solidFill>
                  <a:srgbClr val="6E6774"/>
                </a:solidFill>
              </a:rPr>
              <a:t>Recommends athletic sneakers instead of coordinating linen trousers.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C5C05"/>
                </a:solidFill>
              </a:defRPr>
            </a:pPr>
            <a:r>
              <a:t>🧩 FRAGMENTED SILOS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1. On-Site Search Knows. Email Doesn't.</a:t>
            </a:r>
          </a:p>
          <a:p>
            <a:pPr>
              <a:spcBef>
                <a:spcPts val="300"/>
              </a:spcBef>
              <a:defRPr sz="1000">
                <a:solidFill>
                  <a:srgbClr val="6E6774"/>
                </a:solidFill>
              </a:defRPr>
            </a:pPr>
            <a:r>
              <a:t>On-site search and product discovery sit in one tool; marketing campaigns sit in another. Each vendor sees only 50% of the customer's actual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747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C5C05"/>
                </a:solidFill>
              </a:defRPr>
            </a:pPr>
            <a:r>
              <a:t>🔌 INTEGRATION FRICTION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2. Connecting Them Is a Project, Not a Setting.</a:t>
            </a:r>
          </a:p>
          <a:p>
            <a:pPr>
              <a:spcBef>
                <a:spcPts val="300"/>
              </a:spcBef>
              <a:defRPr sz="1000">
                <a:solidFill>
                  <a:srgbClr val="6E6774"/>
                </a:solidFill>
              </a:defRPr>
            </a:pPr>
            <a:r>
              <a:t>Bolt-on connectors pass a few delayed events across. Everything else the shopper searched, filtered, and compared stays trapped behind engineering backlogs.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9377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C5C05"/>
                </a:solidFill>
              </a:defRPr>
            </a:pPr>
            <a:r>
              <a:t>🤖 BLIND AI AGENTS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3. AI Agents Only Act on What They Can See.</a:t>
            </a:r>
          </a:p>
          <a:p>
            <a:pPr>
              <a:spcBef>
                <a:spcPts val="300"/>
              </a:spcBef>
              <a:defRPr sz="1000">
                <a:solidFill>
                  <a:srgbClr val="6E6774"/>
                </a:solidFill>
              </a:defRPr>
            </a:pPr>
            <a:r>
              <a:t>Split the data and every AI agent works from half the story. As you add more specialized agents, the context gap grows exponentially.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REAL-TIME INTENT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What Shoppers Do on Your Site Writes Your Next Email</a:t>
            </a:r>
          </a:p>
          <a:p>
            <a:pPr>
              <a:spcBef>
                <a:spcPts val="400"/>
              </a:spcBef>
              <a:defRPr sz="1100">
                <a:solidFill>
                  <a:srgbClr val="A59EAA"/>
                </a:solidFill>
                <a:latin typeface="Arial"/>
              </a:defRPr>
            </a:pPr>
            <a:r>
              <a:t>Follow every shopper from search bar to inbox. Automatically capture intent in real time to build the next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965960" cy="210312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20240"/>
            <a:ext cx="17465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59EAA"/>
                </a:solidFill>
              </a:defRPr>
            </a:pPr>
            <a:r>
              <a:t>STEP 01 • 2:02 PM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Searches</a:t>
            </a:r>
          </a:p>
          <a:p>
            <a:pPr>
              <a:spcBef>
                <a:spcPts val="300"/>
              </a:spcBef>
              <a:defRPr sz="950">
                <a:solidFill>
                  <a:srgbClr val="FFEDE2"/>
                </a:solidFill>
              </a:defRPr>
            </a:pPr>
            <a:r>
              <a:t>“linen shirt for a summer wedding”</a:t>
            </a:r>
          </a:p>
          <a:p>
            <a:pPr>
              <a:spcBef>
                <a:spcPts val="600"/>
              </a:spcBef>
              <a:defRPr sz="850">
                <a:solidFill>
                  <a:srgbClr val="A59EAA"/>
                </a:solidFill>
              </a:defRPr>
            </a:pPr>
            <a:r>
              <a:t>High-intent category &amp; occasion captured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828800"/>
            <a:ext cx="1965960" cy="210312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17465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59EAA"/>
                </a:solidFill>
              </a:defRPr>
            </a:pPr>
            <a:r>
              <a:t>STEP 02 • 2:05 PM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Filters</a:t>
            </a:r>
          </a:p>
          <a:p>
            <a:pPr>
              <a:spcBef>
                <a:spcPts val="300"/>
              </a:spcBef>
              <a:defRPr sz="950">
                <a:solidFill>
                  <a:srgbClr val="FFEDE2"/>
                </a:solidFill>
              </a:defRPr>
            </a:pPr>
            <a:r>
              <a:t>Sky blue, Size M, $60 to $90</a:t>
            </a:r>
          </a:p>
          <a:p>
            <a:pPr>
              <a:spcBef>
                <a:spcPts val="600"/>
              </a:spcBef>
              <a:defRPr sz="850">
                <a:solidFill>
                  <a:srgbClr val="A59EAA"/>
                </a:solidFill>
              </a:defRPr>
            </a:pPr>
            <a:r>
              <a:t>Specific style, sizing &amp; budget 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828800"/>
            <a:ext cx="1965960" cy="210312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920240"/>
            <a:ext cx="17465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59EAA"/>
                </a:solidFill>
              </a:defRPr>
            </a:pPr>
            <a:r>
              <a:t>STEP 03 • 2:09 PM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Compares</a:t>
            </a:r>
          </a:p>
          <a:p>
            <a:pPr>
              <a:spcBef>
                <a:spcPts val="300"/>
              </a:spcBef>
              <a:defRPr sz="950">
                <a:solidFill>
                  <a:srgbClr val="FFEDE2"/>
                </a:solidFill>
              </a:defRPr>
            </a:pPr>
            <a:r>
              <a:t>Opens Sky Blue Linen twice</a:t>
            </a:r>
          </a:p>
          <a:p>
            <a:pPr>
              <a:spcBef>
                <a:spcPts val="600"/>
              </a:spcBef>
              <a:defRPr sz="850">
                <a:solidFill>
                  <a:srgbClr val="A59EAA"/>
                </a:solidFill>
              </a:defRPr>
            </a:pPr>
            <a:r>
              <a:t>Deep product affinity identified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828800"/>
            <a:ext cx="1965960" cy="210312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3" y="1920240"/>
            <a:ext cx="17465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59EAA"/>
                </a:solidFill>
              </a:defRPr>
            </a:pPr>
            <a:r>
              <a:t>STEP 04 • 2:14 PM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Cart Exit</a:t>
            </a:r>
          </a:p>
          <a:p>
            <a:pPr>
              <a:spcBef>
                <a:spcPts val="300"/>
              </a:spcBef>
              <a:defRPr sz="950">
                <a:solidFill>
                  <a:srgbClr val="FFEDE2"/>
                </a:solidFill>
              </a:defRPr>
            </a:pPr>
            <a:r>
              <a:t>Sky Blue Linen ($79) left in cart</a:t>
            </a:r>
          </a:p>
          <a:p>
            <a:pPr>
              <a:spcBef>
                <a:spcPts val="600"/>
              </a:spcBef>
              <a:defRPr sz="850">
                <a:solidFill>
                  <a:srgbClr val="A59EAA"/>
                </a:solidFill>
              </a:defRPr>
            </a:pPr>
            <a:r>
              <a:t>Immediate high-intent drop-off logged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828800"/>
            <a:ext cx="1965960" cy="2103120"/>
          </a:xfrm>
          <a:prstGeom prst="roundRect">
            <a:avLst/>
          </a:prstGeom>
          <a:solidFill>
            <a:srgbClr val="1A141E"/>
          </a:solidFill>
          <a:ln w="1905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1920240"/>
            <a:ext cx="174650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C5C05"/>
                </a:solidFill>
              </a:defRPr>
            </a:pPr>
            <a:r>
              <a:t>STEP 05 • 5:14 PM</a:t>
            </a:r>
          </a:p>
          <a:p>
            <a:pPr>
              <a:spcBef>
                <a:spcPts val="300"/>
              </a:spcBef>
              <a:defRPr sz="1200" b="1">
                <a:solidFill>
                  <a:srgbClr val="FFFFFF"/>
                </a:solidFill>
              </a:defRPr>
            </a:pPr>
            <a:r>
              <a:t>Triggered</a:t>
            </a:r>
          </a:p>
          <a:p>
            <a:pPr>
              <a:spcBef>
                <a:spcPts val="300"/>
              </a:spcBef>
              <a:defRPr sz="950">
                <a:solidFill>
                  <a:srgbClr val="FF8A3D"/>
                </a:solidFill>
              </a:defRPr>
            </a:pPr>
            <a:r>
              <a:t>Automated email + WhatsApp sent</a:t>
            </a:r>
          </a:p>
          <a:p>
            <a:pPr>
              <a:spcBef>
                <a:spcPts val="600"/>
              </a:spcBef>
              <a:defRPr sz="850">
                <a:solidFill>
                  <a:srgbClr val="A59EAA"/>
                </a:solidFill>
              </a:defRPr>
            </a:pPr>
            <a:r>
              <a:t>Contextual recovery + matching chinos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5120640" cy="219456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C5C05"/>
                </a:solidFill>
              </a:rPr>
              <a:t>NETCORE REAL-TIME SHOPPER PROFILE </a:t>
            </a:r>
            <a:r>
              <a:rPr sz="850" b="1">
                <a:solidFill>
                  <a:srgbClr val="1FA36A"/>
                </a:solidFill>
              </a:rPr>
              <a:t>[AUTOMATICALLY ENRICHED]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A59EAA"/>
                </a:solidFill>
              </a:rPr>
              <a:t>2:02 PM — </a:t>
            </a:r>
            <a:r>
              <a:rPr sz="900">
                <a:solidFill>
                  <a:srgbClr val="FFFFFF"/>
                </a:solidFill>
              </a:rPr>
              <a:t>Intent: summer wedding | Fabric: linen | Category: men's shirts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A59EAA"/>
                </a:solidFill>
              </a:rPr>
              <a:t>2:05 PM — </a:t>
            </a:r>
            <a:r>
              <a:rPr sz="900">
                <a:solidFill>
                  <a:srgbClr val="FFFFFF"/>
                </a:solidFill>
              </a:rPr>
              <a:t>Color: sky blue | Size: M | Budget ceiling: $90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A59EAA"/>
                </a:solidFill>
              </a:rPr>
              <a:t>2:09 PM — </a:t>
            </a:r>
            <a:r>
              <a:rPr sz="900">
                <a:solidFill>
                  <a:srgbClr val="FFFFFF"/>
                </a:solidFill>
              </a:rPr>
              <a:t>Top product: Sky blue linen shirt (viewed twice)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A59EAA"/>
                </a:solidFill>
              </a:rPr>
              <a:t>2:14 PM — </a:t>
            </a:r>
            <a:r>
              <a:rPr sz="900">
                <a:solidFill>
                  <a:srgbClr val="FFFFFF"/>
                </a:solidFill>
              </a:rPr>
              <a:t>Cart: $79 | Left without checkout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A59EAA"/>
                </a:solidFill>
              </a:rPr>
              <a:t>5:14 PM — </a:t>
            </a:r>
            <a:r>
              <a:rPr sz="900">
                <a:solidFill>
                  <a:srgbClr val="FFFFFF"/>
                </a:solidFill>
              </a:rPr>
              <a:t>Action: Send cart recovery email + matching chinos recommendation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60520"/>
            <a:ext cx="5212080" cy="2194560"/>
          </a:xfrm>
          <a:prstGeom prst="roundRect">
            <a:avLst/>
          </a:prstGeom>
          <a:solidFill>
            <a:srgbClr val="1A141E"/>
          </a:solidFill>
          <a:ln w="1905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A36A"/>
                </a:solidFill>
              </a:defRPr>
            </a:pPr>
            <a:r>
              <a:t>THE NETCORE CONTEXT-AWARE MESSAGE (INBOX VIEW)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“Your sky blue linen shirt is still in your cart”</a:t>
            </a:r>
          </a:p>
          <a:p>
            <a:pPr>
              <a:spcBef>
                <a:spcPts val="200"/>
              </a:spcBef>
              <a:defRPr sz="950">
                <a:solidFill>
                  <a:srgbClr val="FFEDE2"/>
                </a:solidFill>
              </a:defRPr>
            </a:pPr>
            <a:r>
              <a:t>“Size M is still in stock. Planning for the wedding? These pair well with it.”</a:t>
            </a:r>
          </a:p>
        </p:txBody>
      </p:sp>
      <p:pic>
        <p:nvPicPr>
          <p:cNvPr id="20" name="Picture 19" descr="shirt-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166360"/>
            <a:ext cx="1005840" cy="1005840"/>
          </a:xfrm>
          <a:prstGeom prst="rect">
            <a:avLst/>
          </a:prstGeom>
        </p:spPr>
      </p:pic>
      <p:pic>
        <p:nvPicPr>
          <p:cNvPr id="21" name="Picture 20" descr="pants-st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5166360"/>
            <a:ext cx="1005840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52360" y="5257800"/>
            <a:ext cx="10972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Sky Blue Linen</a:t>
            </a:r>
            <a:br/>
            <a:r>
              <a:t>$79 (In Cart)</a:t>
            </a:r>
            <a:br/>
            <a:r>
              <a:t>Size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52578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8A3D"/>
                </a:solidFill>
              </a:defRPr>
            </a:pPr>
            <a:r>
              <a:t>Stone Linen Chinos</a:t>
            </a:r>
            <a:br/>
            <a:r>
              <a:t>$68 (Recommended)</a:t>
            </a:r>
            <a:br/>
            <a:r>
              <a:t>Size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FFEDE2"/>
          </a:solidFill>
          <a:ln w="12700">
            <a:solidFill>
              <a:srgbClr val="FF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OMNICHANNEL CAMPAIGN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11A25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11A25"/>
                </a:solidFill>
                <a:latin typeface="Arial"/>
              </a:defRPr>
            </a:pPr>
            <a:r>
              <a:t>Four Campaigns Built From What Shoppers Actually Do</a:t>
            </a:r>
          </a:p>
          <a:p>
            <a:pPr>
              <a:spcBef>
                <a:spcPts val="400"/>
              </a:spcBef>
              <a:defRPr sz="1100">
                <a:solidFill>
                  <a:srgbClr val="6E6774"/>
                </a:solidFill>
                <a:latin typeface="Arial"/>
              </a:defRPr>
            </a:pPr>
            <a:r>
              <a:t>Combining on-site search intelligence with customer lifecycle marketing enables campaigns point solutions can never replicate.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C5C05"/>
                </a:solidFill>
              </a:defRPr>
            </a:pPr>
            <a:r>
              <a:t>CAMPAIGN 01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Segments Built From Search Queries</a:t>
            </a:r>
          </a:p>
          <a:p>
            <a:pPr>
              <a:spcBef>
                <a:spcPts val="300"/>
              </a:spcBef>
              <a:defRPr sz="950">
                <a:solidFill>
                  <a:srgbClr val="6E6774"/>
                </a:solidFill>
              </a:defRPr>
            </a:pPr>
            <a:r>
              <a:t>Reach shoppers by what they are looking for right now, not just what they bought last year.</a:t>
            </a:r>
          </a:p>
          <a:p>
            <a:pPr>
              <a:spcBef>
                <a:spcPts val="600"/>
              </a:spcBef>
              <a:defRPr sz="900" b="1">
                <a:solidFill>
                  <a:srgbClr val="FC5C05"/>
                </a:solidFill>
              </a:defRPr>
            </a:pPr>
            <a:r>
              <a:t>• Rule: Searched “linen” 2+ times  AND  Last 7 days, no purchase  AND  Size M</a:t>
            </a:r>
            <a:br/>
            <a:r>
              <a:t>• Dynamic Audience: 1,240 active shoppers ready for immediate conversion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C5C05"/>
                </a:solidFill>
              </a:defRPr>
            </a:pPr>
            <a:r>
              <a:t>CAMPAIGN 02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Email Recommendations That Match Your Site</a:t>
            </a:r>
          </a:p>
          <a:p>
            <a:pPr>
              <a:spcBef>
                <a:spcPts val="300"/>
              </a:spcBef>
              <a:defRPr sz="950">
                <a:solidFill>
                  <a:srgbClr val="6E6774"/>
                </a:solidFill>
              </a:defRPr>
            </a:pPr>
            <a:r>
              <a:t>The exact same AI that ranks on-site search chooses products in every email, automatically respecting size and price.</a:t>
            </a:r>
          </a:p>
        </p:txBody>
      </p:sp>
      <p:pic>
        <p:nvPicPr>
          <p:cNvPr id="10" name="Picture 9" descr="shirt-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6080"/>
            <a:ext cx="868680" cy="868680"/>
          </a:xfrm>
          <a:prstGeom prst="rect">
            <a:avLst/>
          </a:prstGeom>
        </p:spPr>
      </p:pic>
      <p:pic>
        <p:nvPicPr>
          <p:cNvPr id="11" name="Picture 10" descr="pants-st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926080"/>
            <a:ext cx="868680" cy="868680"/>
          </a:xfrm>
          <a:prstGeom prst="rect">
            <a:avLst/>
          </a:prstGeom>
        </p:spPr>
      </p:pic>
      <p:pic>
        <p:nvPicPr>
          <p:cNvPr id="12" name="Picture 11" descr="shoe-sa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926080"/>
            <a:ext cx="868680" cy="868680"/>
          </a:xfrm>
          <a:prstGeom prst="rect">
            <a:avLst/>
          </a:prstGeom>
        </p:spPr>
      </p:pic>
      <p:pic>
        <p:nvPicPr>
          <p:cNvPr id="13" name="Picture 12" descr="jacket-nav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2926080"/>
            <a:ext cx="868680" cy="868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41605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C5C05"/>
                </a:solidFill>
              </a:defRPr>
            </a:pPr>
            <a:r>
              <a:t>CAMPAIGN 03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Merchandising Triggers for the Right Shoppers</a:t>
            </a:r>
          </a:p>
          <a:p>
            <a:pPr>
              <a:spcBef>
                <a:spcPts val="300"/>
              </a:spcBef>
              <a:defRPr sz="950">
                <a:solidFill>
                  <a:srgbClr val="6E6774"/>
                </a:solidFill>
              </a:defRPr>
            </a:pPr>
            <a:r>
              <a:t>Price drops, back-in-stock, and new arrivals message ONLY the shoppers who previously searched or viewed those products.</a:t>
            </a:r>
          </a:p>
          <a:p>
            <a:pPr>
              <a:spcBef>
                <a:spcPts val="600"/>
              </a:spcBef>
              <a:defRPr sz="900" b="1">
                <a:solidFill>
                  <a:srgbClr val="1FA36A"/>
                </a:solidFill>
              </a:defRPr>
            </a:pPr>
            <a:r>
              <a:t>⚡ WHEN: Linen shirt price drops to $69</a:t>
            </a:r>
            <a:br/>
            <a:r>
              <a:t>👥 WHO: Shoppers who searched or viewed it in last 14 days</a:t>
            </a:r>
            <a:br/>
            <a:r>
              <a:t>📲 SEND: Multi-channel blast via WhatsApp, SMS, and 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6052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C5C05"/>
                </a:solidFill>
              </a:defRPr>
            </a:pPr>
            <a:r>
              <a:t>CAMPAIGN 04</a:t>
            </a:r>
          </a:p>
          <a:p>
            <a:pPr>
              <a:spcBef>
                <a:spcPts val="200"/>
              </a:spcBef>
              <a:defRPr sz="1300" b="1">
                <a:solidFill>
                  <a:srgbClr val="211A25"/>
                </a:solidFill>
              </a:defRPr>
            </a:pPr>
            <a:r>
              <a:t>Recommendations Across Every Channel</a:t>
            </a:r>
          </a:p>
          <a:p>
            <a:pPr>
              <a:spcBef>
                <a:spcPts val="300"/>
              </a:spcBef>
              <a:defRPr sz="950">
                <a:solidFill>
                  <a:srgbClr val="6E6774"/>
                </a:solidFill>
              </a:defRPr>
            </a:pPr>
            <a:r>
              <a:t>Click a product in an email and the site leads with it. Browse on site, and the next push notification continues right where they left off.</a:t>
            </a:r>
          </a:p>
          <a:p>
            <a:pPr>
              <a:spcBef>
                <a:spcPts val="800"/>
              </a:spcBef>
              <a:defRPr sz="950" b="1">
                <a:solidFill>
                  <a:srgbClr val="211A25"/>
                </a:solidFill>
              </a:defRPr>
            </a:pPr>
            <a:r>
              <a:t>• Channels: Web • Email • SMS • Push • WhatsApp</a:t>
            </a:r>
          </a:p>
        </p:txBody>
      </p:sp>
      <p:pic>
        <p:nvPicPr>
          <p:cNvPr id="18" name="Picture 17" descr="shirt-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434340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One Shopper Memory Behind Every Experience</a:t>
            </a:r>
          </a:p>
          <a:p>
            <a:pPr>
              <a:spcBef>
                <a:spcPts val="400"/>
              </a:spcBef>
              <a:defRPr sz="1100">
                <a:solidFill>
                  <a:srgbClr val="A59EAA"/>
                </a:solidFill>
                <a:latin typeface="Arial"/>
              </a:defRPr>
            </a:pPr>
            <a:r>
              <a:t>Product discovery and customer engagement read from and write to the same profile. Nothing to sync, nothing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37560" cy="251460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063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9EAA"/>
                </a:solidFill>
              </a:defRPr>
            </a:pPr>
            <a:r>
              <a:t>WHAT SHOPPERS DO (SIGNALS)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🔍 Searches &amp; faceted filter refinements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🖱️ Products viewed, compared &amp; clicked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🛒 Cart additions, checkouts &amp; returns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💬 Email, SMS &amp; WhatsApp responses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🏷️ Catalog sync (price drops, stock levels)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</a:defRPr>
            </a:pPr>
            <a:r>
              <a:t>📍 Context (device, geolocation, season)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783080"/>
            <a:ext cx="3337560" cy="2514600"/>
          </a:xfrm>
          <a:prstGeom prst="roundRect">
            <a:avLst/>
          </a:prstGeom>
          <a:solidFill>
            <a:srgbClr val="1A141E"/>
          </a:solidFill>
          <a:ln w="1905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74519"/>
            <a:ext cx="3063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C5C05"/>
                </a:solidFill>
              </a:defRPr>
            </a:pPr>
            <a:r>
              <a:t>NETCORE SHOPPER MEMORY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Real-Time Unified State Machine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FF8A3D"/>
                </a:solidFill>
              </a:rPr>
              <a:t>• Returning Shoppers: </a:t>
            </a:r>
            <a:r>
              <a:rPr sz="900">
                <a:solidFill>
                  <a:srgbClr val="A59EAA"/>
                </a:solidFill>
              </a:rPr>
              <a:t>Builds upon historic LTV, past orders &amp; cross-channel brand affinities.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FF8A3D"/>
                </a:solidFill>
              </a:rPr>
              <a:t>• New Shoppers: </a:t>
            </a:r>
            <a:r>
              <a:rPr sz="900">
                <a:solidFill>
                  <a:srgbClr val="A59EAA"/>
                </a:solidFill>
              </a:rPr>
              <a:t>Seeds intent from location, referring traffic, and catalog trending velocity.</a:t>
            </a:r>
          </a:p>
          <a:p>
            <a:pPr>
              <a:spcBef>
                <a:spcPts val="400"/>
              </a:spcBef>
            </a:pPr>
            <a:r>
              <a:rPr b="1" sz="900">
                <a:solidFill>
                  <a:srgbClr val="FF8A3D"/>
                </a:solidFill>
              </a:rPr>
              <a:t>• In-Session Adaptation: </a:t>
            </a:r>
            <a:r>
              <a:rPr sz="900">
                <a:solidFill>
                  <a:srgbClr val="A59EAA"/>
                </a:solidFill>
              </a:rPr>
              <a:t>Dynamically updates recommendations and cart triggers with every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783080"/>
            <a:ext cx="3337560" cy="251460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1874519"/>
            <a:ext cx="3063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A59EAA"/>
                </a:solidFill>
              </a:defRPr>
            </a:pPr>
            <a:r>
              <a:t>WHERE IT SHOWS UP (SURFACES)</a:t>
            </a:r>
          </a:p>
          <a:p>
            <a:pPr>
              <a:spcBef>
                <a:spcPts val="400"/>
              </a:spcBef>
              <a:defRPr b="1" sz="1000">
                <a:solidFill>
                  <a:srgbClr val="FF8A3D"/>
                </a:solidFill>
              </a:defRPr>
            </a:pPr>
            <a:r>
              <a:t>On Your Store: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• On-site search ranking &amp; visual auto-suggest</a:t>
            </a:r>
            <a:br/>
            <a:r>
              <a:t>• 1:1 Personalized product recommendations</a:t>
            </a:r>
            <a:br/>
            <a:r>
              <a:t>• Real-time visual merchandising badges</a:t>
            </a:r>
          </a:p>
          <a:p>
            <a:pPr>
              <a:spcBef>
                <a:spcPts val="600"/>
              </a:spcBef>
              <a:defRPr b="1" sz="1000">
                <a:solidFill>
                  <a:srgbClr val="1FA36A"/>
                </a:solidFill>
              </a:defRPr>
            </a:pPr>
            <a:r>
              <a:t>In Your Campaigns: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• Dynamic triggered &amp; lifecycle emails</a:t>
            </a:r>
            <a:br/>
            <a:r>
              <a:t>• SMS and RCS conversational messaging</a:t>
            </a:r>
            <a:br/>
            <a:r>
              <a:t>• Mobile app push notifications &amp; WhatsApp commerce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C5C05"/>
                </a:solidFill>
              </a:defRPr>
            </a:pPr>
            <a:r>
              <a:t>9 SPECIALIZED AUTONOMOUS AI AGENTS WORKING FROM ONE MEMORY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FFFFF"/>
                </a:solidFill>
              </a:rPr>
              <a:t>On Your Site:   </a:t>
            </a:r>
            <a:r>
              <a:rPr sz="1000">
                <a:solidFill>
                  <a:srgbClr val="FF8A3D"/>
                </a:solidFill>
              </a:rPr>
              <a:t>🛍️ Shopping Agent   •   🗂️ Merchandising Agent   •   🛠️ Debugger Agent</a:t>
            </a:r>
          </a:p>
          <a:p>
            <a:pPr>
              <a:spcBef>
                <a:spcPts val="400"/>
              </a:spcBef>
            </a:pPr>
            <a:r>
              <a:rPr b="1" sz="1000">
                <a:solidFill>
                  <a:srgbClr val="FFFFFF"/>
                </a:solidFill>
              </a:rPr>
              <a:t>In Campaigns:   </a:t>
            </a:r>
            <a:r>
              <a:rPr sz="1000">
                <a:solidFill>
                  <a:srgbClr val="1FA36A"/>
                </a:solidFill>
              </a:rPr>
              <a:t>👥 Audience Agent  •  ✍️ Content Agent  •  📅 Scheduler Agent  •  🔀 Decisioning Agent  •  📊 Insights Agent  •  🚀 Co-Marketer</a:t>
            </a:r>
          </a:p>
          <a:p>
            <a:pPr>
              <a:spcBef>
                <a:spcPts val="600"/>
              </a:spcBef>
              <a:defRPr sz="850">
                <a:solidFill>
                  <a:srgbClr val="A59EAA"/>
                </a:solidFill>
              </a:defRPr>
            </a:pPr>
            <a:r>
              <a:t>Every agent operates on 100% complete customer context — no data blindness, no cross-tool latency.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FFEDE2"/>
          </a:solidFill>
          <a:ln w="12700">
            <a:solidFill>
              <a:srgbClr val="FF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BUSINESS IMPACT &amp;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211A25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11A25"/>
                </a:solidFill>
                <a:latin typeface="Arial"/>
              </a:defRPr>
            </a:pPr>
            <a:r>
              <a:t>What Changes for Your Marketing Team</a:t>
            </a:r>
          </a:p>
          <a:p>
            <a:pPr>
              <a:spcBef>
                <a:spcPts val="400"/>
              </a:spcBef>
              <a:defRPr sz="1100">
                <a:solidFill>
                  <a:srgbClr val="6E6774"/>
                </a:solidFill>
                <a:latin typeface="Arial"/>
              </a:defRPr>
            </a:pPr>
            <a:r>
              <a:t>Replace four fragmented point solutions with one unified platform. Less time stitching tools together, more campaigns that sell.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23636"/>
                </a:solidFill>
              </a:defRPr>
            </a:pPr>
            <a:r>
              <a:t>THE LEGACY FRAGMENTED STACK</a:t>
            </a:r>
          </a:p>
          <a:p>
            <a:pPr>
              <a:spcBef>
                <a:spcPts val="300"/>
              </a:spcBef>
              <a:defRPr sz="1500" b="1">
                <a:solidFill>
                  <a:srgbClr val="211A25"/>
                </a:solidFill>
              </a:defRPr>
            </a:pPr>
            <a:r>
              <a:t>Four Disjointed Tools, Four Invoices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📄 1. On-Site Search &amp; Discovery Vendor
</a:t>
            </a:r>
            <a:r>
              <a:rPr sz="900">
                <a:solidFill>
                  <a:srgbClr val="6E6774"/>
                </a:solidFill>
              </a:rPr>
              <a:t>    Separate contract, custom event tracking, catalog sync latency.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📄 2. Standalone ESP / Cross-Channel Vendor
</a:t>
            </a:r>
            <a:r>
              <a:rPr sz="900">
                <a:solidFill>
                  <a:srgbClr val="6E6774"/>
                </a:solidFill>
              </a:rPr>
              <a:t>    Disconnected profile data, limited browsing events, costly volume tiers.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📄 3. Third-Party Personalization Engine
</a:t>
            </a:r>
            <a:r>
              <a:rPr sz="900">
                <a:solidFill>
                  <a:srgbClr val="6E6774"/>
                </a:solidFill>
              </a:rPr>
              <a:t>    Custom tag management, fragile script execution, inconsistent rules.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📄 4. Dedicated Deliverability Tool
</a:t>
            </a:r>
            <a:r>
              <a:rPr sz="900">
                <a:solidFill>
                  <a:srgbClr val="6E6774"/>
                </a:solidFill>
              </a:rPr>
              <a:t>    Separate monitoring dashboard, vendor finger-pointing when issues arise.</a:t>
            </a:r>
          </a:p>
          <a:p>
            <a:pPr>
              <a:spcBef>
                <a:spcPts val="1400"/>
              </a:spcBef>
              <a:defRPr sz="950" b="1">
                <a:solidFill>
                  <a:srgbClr val="E23636"/>
                </a:solidFill>
              </a:defRPr>
            </a:pPr>
            <a:r>
              <a:t>Result: High engineering overhead, fragmented data, delayed campaigns.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C5C05"/>
                </a:solidFill>
              </a:defRPr>
            </a:pPr>
            <a:r>
              <a:t>THE NETCORE ADVANTAGE</a:t>
            </a:r>
          </a:p>
          <a:p>
            <a:pPr>
              <a:spcBef>
                <a:spcPts val="300"/>
              </a:spcBef>
              <a:defRPr sz="1500" b="1">
                <a:solidFill>
                  <a:srgbClr val="211A25"/>
                </a:solidFill>
              </a:defRPr>
            </a:pPr>
            <a:r>
              <a:t>One Platform • One Invoice • One Partner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🚀 More Revenue From Every Send
</a:t>
            </a:r>
            <a:r>
              <a:rPr sz="900">
                <a:solidFill>
                  <a:srgbClr val="6E6774"/>
                </a:solidFill>
              </a:rPr>
              <a:t>Messages built on real-time shopping intent get opened, clicked, and converted. New York &amp; Company saw 70% higher revenue per email.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⚡ Zero-Integration Campaigns
</a:t>
            </a:r>
            <a:r>
              <a:rPr sz="900">
                <a:solidFill>
                  <a:srgbClr val="6E6774"/>
                </a:solidFill>
              </a:rPr>
              <a:t>Search, browse, cart, and campaign data live together natively. No custom syncs, no event mapping, no developer backlogs.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📋 Unified Procurement &amp; Support
</a:t>
            </a:r>
            <a:r>
              <a:rPr sz="900">
                <a:solidFill>
                  <a:srgbClr val="6E6774"/>
                </a:solidFill>
              </a:rPr>
              <a:t>Consolidate 4 vendor contracts, renewals, and support tickets into a single enterprise SLA and trusted account team.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211A25"/>
                </a:solidFill>
              </a:rPr>
              <a:t>🧠 Smarter, Context-Rich AI
</a:t>
            </a:r>
            <a:r>
              <a:rPr sz="900">
                <a:solidFill>
                  <a:srgbClr val="6E6774"/>
                </a:solidFill>
              </a:rPr>
              <a:t>Every AI agent operates on the complete shopper memory, getting sharper with every search query and catalog update.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PROVEN ENTERPRISE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Real Results From Brands Running Both Together</a:t>
            </a:r>
          </a:p>
          <a:p>
            <a:pPr>
              <a:spcBef>
                <a:spcPts val="400"/>
              </a:spcBef>
              <a:defRPr sz="1100">
                <a:solidFill>
                  <a:srgbClr val="A59EAA"/>
                </a:solidFill>
                <a:latin typeface="Arial"/>
              </a:defRPr>
            </a:pPr>
            <a:r>
              <a:t>Validated by global commerce leaders and top-tier independent industry analyst firms.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448056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C5C05"/>
                </a:solidFill>
              </a:defRPr>
            </a:pPr>
            <a:r>
              <a:t>FEATURED CASE STUDY: NEW YORK &amp; COMPANY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Unifying On-Site Search &amp; Personalized Lifecycle</a:t>
            </a:r>
          </a:p>
          <a:p>
            <a:pPr>
              <a:spcBef>
                <a:spcPts val="300"/>
              </a:spcBef>
              <a:defRPr sz="950">
                <a:solidFill>
                  <a:srgbClr val="A59EAA"/>
                </a:solidFill>
              </a:defRPr>
            </a:pPr>
            <a:r>
              <a:t>On-site search learned from live shopper behavior, and those exact signals instantly triggered personalized emails and 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63240"/>
            <a:ext cx="2240280" cy="86868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36392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C5C05"/>
                </a:solidFill>
              </a:defRPr>
            </a:pPr>
            <a:r>
              <a:t>+600%</a:t>
            </a:r>
          </a:p>
          <a:p>
            <a:pPr>
              <a:spcBef>
                <a:spcPts val="100"/>
              </a:spcBef>
              <a:defRPr sz="850">
                <a:solidFill>
                  <a:srgbClr val="FFFFFF"/>
                </a:solidFill>
              </a:defRPr>
            </a:pPr>
            <a:r>
              <a:t>Higher Email Click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63240"/>
            <a:ext cx="2240280" cy="86868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136392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C5C05"/>
                </a:solidFill>
              </a:defRPr>
            </a:pPr>
            <a:r>
              <a:t>+70%</a:t>
            </a:r>
          </a:p>
          <a:p>
            <a:pPr>
              <a:spcBef>
                <a:spcPts val="100"/>
              </a:spcBef>
              <a:defRPr sz="850">
                <a:solidFill>
                  <a:srgbClr val="FFFFFF"/>
                </a:solidFill>
              </a:defRPr>
            </a:pPr>
            <a:r>
              <a:t>More Revenue Per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2240280" cy="86868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96512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C5C05"/>
                </a:solidFill>
              </a:defRPr>
            </a:pPr>
            <a:r>
              <a:t>+8%</a:t>
            </a:r>
          </a:p>
          <a:p>
            <a:pPr>
              <a:spcBef>
                <a:spcPts val="100"/>
              </a:spcBef>
              <a:defRPr sz="850">
                <a:solidFill>
                  <a:srgbClr val="FFFFFF"/>
                </a:solidFill>
              </a:defRPr>
            </a:pPr>
            <a:r>
              <a:t>Higher Search Conversion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023360"/>
            <a:ext cx="2240280" cy="86868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4096512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C5C05"/>
                </a:solidFill>
              </a:defRPr>
            </a:pPr>
            <a:r>
              <a:t>1,228%</a:t>
            </a:r>
          </a:p>
          <a:p>
            <a:pPr>
              <a:spcBef>
                <a:spcPts val="100"/>
              </a:spcBef>
              <a:defRPr sz="850">
                <a:solidFill>
                  <a:srgbClr val="FFFFFF"/>
                </a:solidFill>
              </a:defRPr>
            </a:pPr>
            <a:r>
              <a:t>Verified Return on Investment (ROI)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20640"/>
            <a:ext cx="4754880" cy="960120"/>
          </a:xfrm>
          <a:prstGeom prst="roundRect">
            <a:avLst/>
          </a:prstGeom>
          <a:solidFill>
            <a:srgbClr val="28202C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16636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FFEDE2"/>
                </a:solidFill>
              </a:defRPr>
            </a:pPr>
            <a:r>
              <a:t>“With AI-powered search and personalized emails working together, we created a smoother shopping journey. Every click fueled smarter marketing.”</a:t>
            </a:r>
          </a:p>
          <a:p>
            <a:pPr>
              <a:spcBef>
                <a:spcPts val="200"/>
              </a:spcBef>
              <a:defRPr sz="800" b="1">
                <a:solidFill>
                  <a:srgbClr val="FFFFFF"/>
                </a:solidFill>
              </a:defRPr>
            </a:pPr>
            <a:r>
              <a:t>— VP of Marketing, New York &amp; Company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4B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FA36A"/>
                </a:solidFill>
              </a:defRPr>
            </a:pPr>
            <a:r>
              <a:t>INDUSTRY ANALYST VALIDATION</a:t>
            </a:r>
          </a:p>
          <a:p>
            <a:pPr>
              <a:spcBef>
                <a:spcPts val="200"/>
              </a:spcBef>
              <a:defRPr sz="1300" b="1">
                <a:solidFill>
                  <a:srgbClr val="FFFFFF"/>
                </a:solidFill>
              </a:defRPr>
            </a:pPr>
            <a:r>
              <a:t>Recognized on Both Sides of the 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88920"/>
            <a:ext cx="4846320" cy="96012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86207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C5C05"/>
                </a:solidFill>
              </a:defRPr>
            </a:pPr>
            <a:r>
              <a:t>GARTNER MAGIC QUADRANT — LEADER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Named a Leader in the 2026 Gartner® Magic Quadrant™ for Search and Product Discovery for the 3rd consecutive year.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86200"/>
            <a:ext cx="4846320" cy="96012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1F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5935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A36A"/>
                </a:solidFill>
              </a:defRPr>
            </a:pPr>
            <a:r>
              <a:t>FORRESTER WAVE — STRONG PERFORMER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Recognized as a Strong Performer in The Forrester Wave™: Email Marketing Service Providers (Q1 2026).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83480"/>
            <a:ext cx="4846320" cy="960120"/>
          </a:xfrm>
          <a:prstGeom prst="roundRect">
            <a:avLst/>
          </a:prstGeom>
          <a:solidFill>
            <a:srgbClr val="1A141E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056632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8A3D"/>
                </a:solidFill>
              </a:defRPr>
            </a:pPr>
            <a:r>
              <a:t>FORRESTER WAVE — COMMERCE SEARCH</a:t>
            </a:r>
          </a:p>
          <a:p>
            <a:pPr>
              <a:spcBef>
                <a:spcPts val="200"/>
              </a:spcBef>
              <a:defRPr sz="850">
                <a:solidFill>
                  <a:srgbClr val="FFFFFF"/>
                </a:solidFill>
              </a:defRPr>
            </a:pPr>
            <a:r>
              <a:t>Achieved the Highest Score in Current Offering in The Forrester Wave™: Commerce Search &amp; Product Discovery (Q3 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38912"/>
            <a:ext cx="2560320" cy="292608"/>
          </a:xfrm>
          <a:prstGeom prst="roundRect">
            <a:avLst/>
          </a:prstGeom>
          <a:solidFill>
            <a:srgbClr val="302735"/>
          </a:solidFill>
          <a:ln w="127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C5C05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8404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netcore</a:t>
            </a:r>
            <a:r>
              <a:rPr sz="1300" b="1">
                <a:solidFill>
                  <a:srgbClr val="FC5C05"/>
                </a:solidFill>
                <a:latin typeface="Arial"/>
              </a:rPr>
              <a:t> 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Your Shoppers Already Told You What They Want</a:t>
            </a:r>
          </a:p>
          <a:p>
            <a:pPr>
              <a:spcBef>
                <a:spcPts val="400"/>
              </a:spcBef>
              <a:defRPr sz="1100">
                <a:solidFill>
                  <a:srgbClr val="A59EAA"/>
                </a:solidFill>
                <a:latin typeface="Arial"/>
              </a:defRPr>
            </a:pPr>
            <a:r>
              <a:t>Put every search, click, and cart to work across the next email, SMS, push, and WhatsApp message you send.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37560" cy="2103120"/>
          </a:xfrm>
          <a:prstGeom prst="roundRect">
            <a:avLst/>
          </a:prstGeom>
          <a:solidFill>
            <a:srgbClr val="302735"/>
          </a:solidFill>
          <a:ln w="1905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C5C05"/>
                </a:solidFill>
              </a:defRPr>
            </a:pPr>
            <a:r>
              <a:t>🔄 SEAMLESS INTEGRATION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1. Unify Search &amp; Lifecycle</a:t>
            </a:r>
          </a:p>
          <a:p>
            <a:pPr>
              <a:spcBef>
                <a:spcPts val="400"/>
              </a:spcBef>
              <a:defRPr sz="950">
                <a:solidFill>
                  <a:srgbClr val="A59EAA"/>
                </a:solidFill>
              </a:defRPr>
            </a:pPr>
            <a:r>
              <a:t>Eliminate data lag and architectural silos between what shoppers do on site and what your campaigns deliver.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920240"/>
            <a:ext cx="3337560" cy="2103120"/>
          </a:xfrm>
          <a:prstGeom prst="roundRect">
            <a:avLst/>
          </a:prstGeom>
          <a:solidFill>
            <a:srgbClr val="302735"/>
          </a:solidFill>
          <a:ln w="19050">
            <a:solidFill>
              <a:srgbClr val="1F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0574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A36A"/>
                </a:solidFill>
              </a:defRPr>
            </a:pPr>
            <a:r>
              <a:t>⚡ IMMEDIATE ACTION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2. Trigger Real-Time Intent</a:t>
            </a:r>
          </a:p>
          <a:p>
            <a:pPr>
              <a:spcBef>
                <a:spcPts val="400"/>
              </a:spcBef>
              <a:defRPr sz="950">
                <a:solidFill>
                  <a:srgbClr val="A59EAA"/>
                </a:solidFill>
              </a:defRPr>
            </a:pPr>
            <a:r>
              <a:t>Transition from generic batch-and-blast emails to automated 1:1 triggers within minutes of customer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920240"/>
            <a:ext cx="3337560" cy="2103120"/>
          </a:xfrm>
          <a:prstGeom prst="roundRect">
            <a:avLst/>
          </a:prstGeom>
          <a:solidFill>
            <a:srgbClr val="302735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0574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8A3D"/>
                </a:solidFill>
              </a:defRPr>
            </a:pPr>
            <a:r>
              <a:t>📈 PROVEN ROI</a:t>
            </a:r>
          </a:p>
          <a:p>
            <a:pPr>
              <a:spcBef>
                <a:spcPts val="300"/>
              </a:spcBef>
              <a:defRPr sz="1300" b="1">
                <a:solidFill>
                  <a:srgbClr val="FFFFFF"/>
                </a:solidFill>
              </a:defRPr>
            </a:pPr>
            <a:r>
              <a:t>3. Maximize Commerce GMV</a:t>
            </a:r>
          </a:p>
          <a:p>
            <a:pPr>
              <a:spcBef>
                <a:spcPts val="400"/>
              </a:spcBef>
              <a:defRPr sz="950">
                <a:solidFill>
                  <a:srgbClr val="A59EAA"/>
                </a:solidFill>
              </a:defRPr>
            </a:pPr>
            <a:r>
              <a:t>Drive double-digit revenue growth with search-driven recommendations and synchronized omnichannel touchpoints.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A141E"/>
          </a:solidFill>
          <a:ln w="25400">
            <a:solidFill>
              <a:srgbClr val="FC5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3484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C5C05"/>
                </a:solidFill>
              </a:defRPr>
            </a:pPr>
            <a:r>
              <a:t>READY TO TRANSFORM YOUR COMMERCE EXPERIENCE?</a:t>
            </a:r>
          </a:p>
          <a:p>
            <a:pPr>
              <a:spcBef>
                <a:spcPts val="200"/>
              </a:spcBef>
              <a:defRPr sz="1700" b="1">
                <a:solidFill>
                  <a:srgbClr val="FFFFFF"/>
                </a:solidFill>
              </a:defRPr>
            </a:pPr>
            <a:r>
              <a:t>Book a Live Architectural Walkthrough &amp; Product Discovery Audit</a:t>
            </a:r>
          </a:p>
          <a:p>
            <a:pPr>
              <a:spcBef>
                <a:spcPts val="300"/>
              </a:spcBef>
              <a:defRPr sz="1050">
                <a:solidFill>
                  <a:srgbClr val="FFEDE2"/>
                </a:solidFill>
              </a:defRPr>
            </a:pPr>
            <a:r>
              <a:t>See how Netcore connects on-site search, merchandising, and cross-channel lifecycle marketing to deliver immediate double-digit conversion lift for your brand.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623560"/>
            <a:ext cx="3291840" cy="438912"/>
          </a:xfrm>
          <a:prstGeom prst="roundRect">
            <a:avLst/>
          </a:prstGeom>
          <a:solidFill>
            <a:srgbClr val="FC5C05"/>
          </a:solidFill>
          <a:ln w="1270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BOOK A DEMO  •  netcorecloud.com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623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59EAA"/>
                </a:solidFill>
              </a:defRPr>
            </a:pPr>
            <a:r>
              <a:t>Trusted by 6,500+ global brands  |  Gartner Magic Quadrant Leader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